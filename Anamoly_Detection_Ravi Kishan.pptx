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behavioral-anomaly-detection-abkuajnmz3kmxlwwluxhbm.streamlit.app/" TargetMode="External"/><Relationship Id="rId3" Type="http://schemas.openxmlformats.org/officeDocument/2006/relationships/hyperlink" Target="https://csrc.nist.gov/pubs/sp/800/94/final" TargetMode="External"/><Relationship Id="rId7" Type="http://schemas.openxmlformats.org/officeDocument/2006/relationships/hyperlink" Target="https://vs.inf.ethz.ch/edu/HS2011/CPS/papers/chandola09_anomaly-detection-survey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45/2939672.2939785" TargetMode="External"/><Relationship Id="rId5" Type="http://schemas.openxmlformats.org/officeDocument/2006/relationships/hyperlink" Target="https://proceedings.neurips.cc/paper/2017/hash/8a20a8621978632d76c43dfd28b67767-Abstract.html" TargetMode="External"/><Relationship Id="rId4" Type="http://schemas.openxmlformats.org/officeDocument/2006/relationships/hyperlink" Target="https://www.odni.gov/files/NCSC/documents/nittf/20180209-CERT-Common-Sense-Guide-Fifth-Edition.pdf" TargetMode="External"/><Relationship Id="rId9" Type="http://schemas.openxmlformats.org/officeDocument/2006/relationships/hyperlink" Target="https://github.com/rkKishan/Behavioral-Anomaly-Detection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11185126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Question 4A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AI-Powered Behavioral Anomaly Detection for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 Cybersecurity &amp; Data Analysis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– Ravi Kishan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 – 23BDS0227 (Vellore Institute of Technology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, Vellore)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SentinelLens — Explainable Behavioral Anomaly Detection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Learns per-entity “normal” behavior (users, service accounts, edge devices) from access logs — then flags deviations in near real-time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Classifies the attack type — brute force, impossible travel, credential stuffing, lateral movement, device spoofing, low-and-slow exfiltration — not just “anomalous”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Every alert ships with a SHAP-based plain-English rationale (e.g. “16 accounts from one IP + failed auths”) — built for SOC analysts, not black-box scores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Addresses signature-based security's blind spot: novel and slow attacks that match no known malware hash or fixed rule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Uniqueness: 0% false positives on brand-new entities AND on legitimate behaviour change — the two failures that make real SOC tools unusable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3171607"/>
            <a:ext cx="1077078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Python · pandas/NumPy · faker · XGBoost · SHAP · Streamlit · Plotly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Generator matches the spec schema and all 8 behaviour patterns — 200 entities, 74K sessions, OS+MAC+protocol fingerprints, no giveaway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Sequence-aware detection via GRAPH model (spec option 3): bipartite entity↔resource graph, peer affinity + 2-hop reachability — AUC 1.00 on lateral movement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XGBoost multiclass + physics rule layer that CONFIRMS and VETOES geo-velocity claims; time-based split; inverse-frequency weighting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Baseline profiler (statistical + IsolationForest) · SHAP rationale per alert · Streamlit dashboard · 3.6 ms/event streaming scorer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3" name="Archite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688" y="1008491"/>
            <a:ext cx="5380434" cy="22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Feasibility — proven, not promised: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Working end-to-end pipeline on 73,931 sessions; live scoring at 3.6 ms/event (277 events/sec, single thread)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PR-AUC 0.996 at 1:42 imbalance; 0 false alarms/day at a top-1% analyst budget; 50,271 events/sec batched</a:t>
            </a:r>
          </a:p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Challenges &amp; risks — identified honestly: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Results are measured on SYNTHETIC traffic and are optimistic by nature — 3 inflating artifacts were found and removed during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Measured on purpose-built cohorts: 20 brand-new entities (2,647 sessions) + 18 entities that legitimately changed shift and device</a:t>
            </a:r>
          </a:p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Mitigation strategies: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0.00% false positives on both cohorts; rolling baselines re-learn the new normal (post-drift deviation 0.85, identical to unchanged entities)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Physics rule layer confirms AND vetoes impossible travel → that class improved 0.83 → 0.93 F1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Streaming demonstrated by per-event benchmark; causal features port directly to Kafka-style stateful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3489" y="301293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Relevant artifacts, such as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GitHub repo: full source — generator, features, model, SHAP layer, dashboard (setup + run order documented)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Live outputs below: real alert queue with SHAP rationales · per-class F1 · precision-recall vs. analyst alert budget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0" name="AlertQue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062" y="691282"/>
            <a:ext cx="8421875" cy="2450000"/>
          </a:xfrm>
          <a:prstGeom prst="rect">
            <a:avLst/>
          </a:prstGeom>
        </p:spPr>
      </p:pic>
      <p:pic>
        <p:nvPicPr>
          <p:cNvPr id="91" name="F1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500" y="4700000"/>
            <a:ext cx="3412500" cy="1950000"/>
          </a:xfrm>
          <a:prstGeom prst="rect">
            <a:avLst/>
          </a:prstGeom>
        </p:spPr>
      </p:pic>
      <p:pic>
        <p:nvPicPr>
          <p:cNvPr id="92" name="Budget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00" y="4700000"/>
            <a:ext cx="3412500" cy="19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92372" y="711282"/>
            <a:ext cx="9385300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 / Links of the reference and research work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Lundberg &amp; Lee (2017), "A Unified Approach to Interpreting Model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Predictions" (SHAP) — </a:t>
            </a:r>
            <a:r>
              <a:rPr lang="en-US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30 — https://</a:t>
            </a:r>
            <a:r>
              <a:rPr lang="en-US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arxiv.org</a:t>
            </a: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/abs/1705.07874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Chen &amp; </a:t>
            </a:r>
            <a:r>
              <a:rPr lang="en-US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Guestrin</a:t>
            </a: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(2016), "</a:t>
            </a:r>
            <a:r>
              <a:rPr lang="en-US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Scalable Tree Boosting System"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— KDD '16 — https://</a:t>
            </a:r>
            <a:r>
              <a:rPr lang="en-US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arxiv.org</a:t>
            </a: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/abs/1603.02754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Chandola, Banerjee &amp; Kumar (2009), "Anomaly Detection: A Survey"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— ACM Computing Surveys 41(3) — https://</a:t>
            </a:r>
            <a:r>
              <a:rPr lang="en-US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/10.1145/1541880.1541882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Liu, Ting &amp; Zhou (2008), "Isolation Forest" — IEEE ICDM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— https://</a:t>
            </a:r>
            <a:r>
              <a:rPr lang="en-US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/10.1109/ICDM.2008.17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MITRE ATT&amp;CK® — adversary tactics &amp; techniques taxonomy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— https://</a:t>
            </a:r>
            <a:r>
              <a:rPr lang="en-US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attack.mitre.org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NIST SP 800-94, "Guide to Intrusion Detection and Prevention Systems"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https://csrc.nist.gov/pubs/sp/800/94/final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CERT/SEI, "Common Sense Guide to Mitigating Insider Threats"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— </a:t>
            </a:r>
            <a:r>
              <a:rPr lang="en-US" sz="12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https://www.odni.gov/files/NCSC/documents/nittf/20180209-CERT-Common-Sense-Guide-Fifth-Edition.pdf</a:t>
            </a:r>
            <a:endParaRPr lang="en-US" sz="12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/>
            <a:r>
              <a:rPr lang="en-IN" sz="1200" dirty="0"/>
              <a:t>SHAP (</a:t>
            </a:r>
            <a:r>
              <a:rPr lang="en-IN" sz="1200" dirty="0" err="1"/>
              <a:t>NeurIPS</a:t>
            </a:r>
            <a:r>
              <a:rPr lang="en-IN" sz="1200" dirty="0"/>
              <a:t>): </a:t>
            </a:r>
            <a:r>
              <a:rPr lang="en-IN" sz="1200" dirty="0">
                <a:hlinkClick r:id="rId5"/>
              </a:rPr>
              <a:t>https://</a:t>
            </a:r>
            <a:r>
              <a:rPr lang="en-IN" sz="1200" dirty="0" err="1">
                <a:hlinkClick r:id="rId5"/>
              </a:rPr>
              <a:t>proceedings.neurips.cc</a:t>
            </a:r>
            <a:r>
              <a:rPr lang="en-IN" sz="1200" dirty="0">
                <a:hlinkClick r:id="rId5"/>
              </a:rPr>
              <a:t>/paper/2017/hash/8a20a8621978632d76c43dfd28b67767-Abstract.html</a:t>
            </a:r>
            <a:endParaRPr lang="en-IN" sz="1200" dirty="0"/>
          </a:p>
          <a:p>
            <a:pPr lvl="0"/>
            <a:r>
              <a:rPr lang="en-IN" sz="1200" dirty="0" err="1"/>
              <a:t>XGBoost</a:t>
            </a:r>
            <a:r>
              <a:rPr lang="en-IN" sz="1200" dirty="0"/>
              <a:t> (ACM DOI): </a:t>
            </a:r>
            <a:r>
              <a:rPr lang="en-IN" sz="1200" dirty="0">
                <a:hlinkClick r:id="rId6"/>
              </a:rPr>
              <a:t>https://</a:t>
            </a:r>
            <a:r>
              <a:rPr lang="en-IN" sz="1200" dirty="0" err="1">
                <a:hlinkClick r:id="rId6"/>
              </a:rPr>
              <a:t>doi.org</a:t>
            </a:r>
            <a:r>
              <a:rPr lang="en-IN" sz="1200" dirty="0">
                <a:hlinkClick r:id="rId6"/>
              </a:rPr>
              <a:t>/10.1145/2939672.2939785</a:t>
            </a:r>
            <a:endParaRPr lang="en-IN" sz="1200" dirty="0"/>
          </a:p>
          <a:p>
            <a:pPr lvl="0"/>
            <a:r>
              <a:rPr lang="en-IN" sz="1200" dirty="0"/>
              <a:t>Anomaly survey (free PDF): </a:t>
            </a:r>
            <a:r>
              <a:rPr lang="en-IN" sz="1200" dirty="0">
                <a:hlinkClick r:id="rId7"/>
              </a:rPr>
              <a:t>https://vs.inf.ethz.ch/edu/HS2011/CPS/papers/chandola09_anomaly-detection-survey.pdf</a:t>
            </a:r>
            <a:endParaRPr lang="en-IN" sz="1200" dirty="0"/>
          </a:p>
          <a:p>
            <a:pPr lvl="0"/>
            <a:r>
              <a:rPr lang="en-IN" sz="1200" dirty="0">
                <a:hlinkClick r:id="rId7"/>
              </a:rPr>
              <a:t> </a:t>
            </a:r>
            <a:r>
              <a:rPr lang="en-IN" sz="1200" dirty="0">
                <a:hlinkClick r:id="rId7"/>
              </a:rPr>
              <a:t>https://vs.inf.ethz.ch/edu/HS2011/CPS/papers/chandola09_anomaly-detection-survey.pdf</a:t>
            </a:r>
            <a:endParaRPr lang="en-IN" sz="1200" dirty="0"/>
          </a:p>
          <a:p>
            <a:pPr lvl="0"/>
            <a:r>
              <a:rPr lang="en-IN" sz="1400" b="1" dirty="0"/>
              <a:t>Deployed link on </a:t>
            </a:r>
            <a:r>
              <a:rPr lang="en-IN" sz="1400" b="1" dirty="0" err="1"/>
              <a:t>streamlit</a:t>
            </a:r>
            <a:r>
              <a:rPr lang="en-IN" sz="1400" b="1" dirty="0"/>
              <a:t>: </a:t>
            </a:r>
            <a:r>
              <a:rPr lang="en-IN" sz="1200" dirty="0"/>
              <a:t>[</a:t>
            </a:r>
            <a:r>
              <a:rPr lang="en-IN" sz="1200" dirty="0">
                <a:hlinkClick r:id="rId8"/>
              </a:rPr>
              <a:t>https://behavioral-anomaly-detection-abkuajnmz3kmxlwwluxhbm.streamlit.app/</a:t>
            </a:r>
            <a:r>
              <a:rPr lang="en-IN" sz="1200" dirty="0"/>
              <a:t>]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GitHub repository link: [</a:t>
            </a:r>
            <a:r>
              <a:rPr lang="en-US" sz="2000" b="1" dirty="0">
                <a:latin typeface="Arial" pitchFamily="34" charset="0"/>
                <a:cs typeface="Arial" pitchFamily="34" charset="0"/>
                <a:hlinkClick r:id="rId9"/>
              </a:rPr>
              <a:t>https://github.com/rkKishan/Behavioral-Anomaly-Detection.git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]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7688</TotalTime>
  <Words>916</Words>
  <Application>Microsoft Macintosh PowerPoint</Application>
  <PresentationFormat>Widescreen</PresentationFormat>
  <Paragraphs>84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 SentinelLens — Explainable Behavioral Anomaly Detection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Alok Singh</cp:lastModifiedBy>
  <cp:revision>159</cp:revision>
  <dcterms:created xsi:type="dcterms:W3CDTF">2013-12-12T18:46:50Z</dcterms:created>
  <dcterms:modified xsi:type="dcterms:W3CDTF">2026-07-26T14:55:58Z</dcterms:modified>
  <cp:category/>
</cp:coreProperties>
</file>